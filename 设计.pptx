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81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53F31F-03BB-DA35-9664-FF60725CED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0E098DE-7CB8-26CC-A6A6-57F3820B9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586A93-17CD-D00F-FED3-1DF1E7264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81154-434A-4148-82B0-8446A0922BBD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57DEC5-5FB2-2C0E-A609-963A48A1D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C33AA9-981C-264E-0BE9-47429822F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DF061-0F94-488B-B34A-6118842F8D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3801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FE77CD-59C0-59A6-CC8E-72C64626D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56570B-A0D6-AAFE-C2CE-66295467F8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5A59F4-20E8-CEA7-0BE9-22EC22E0F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81154-434A-4148-82B0-8446A0922BBD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C2E70E-27FE-C038-13D1-E63542BFD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647770-5158-9A3E-4029-A4EECAB74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DF061-0F94-488B-B34A-6118842F8D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4250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C5DAD5-CAB7-2962-272D-B50165852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38C8196-276D-D837-FA13-B4D27B555A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2B044A-EFED-B891-A41A-73E9E7F1B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81154-434A-4148-82B0-8446A0922BBD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15C1A0-0069-7514-86A9-2A816BC74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BDC4C6-84E4-1A68-CAE4-B6AEB6F35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DF061-0F94-488B-B34A-6118842F8D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8208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12F42F-59E6-D0C0-A075-E93993356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AF2558-24C3-1B67-4C0E-F0838BEAF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E392C0A-705E-3B15-D074-7AC42E5B1C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0179F47-29F3-4625-B977-4FAFC7FF3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81154-434A-4148-82B0-8446A0922BBD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0F2B0AE-5C76-DA70-C320-E8A81EBB4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809933B-2CF9-EBC6-A9A4-74D2436B4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DF061-0F94-488B-B34A-6118842F8D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3069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79BE03-40A1-C87E-6357-0A4AE8CE9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301A4A2-A46E-DA4F-1C2C-D52F09B07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68CE0A3-1809-CAE9-870B-B341B7D432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2C5A749-A364-EF80-07FD-FE820C5A81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EA014E9-B54A-96D1-6076-690C3546EB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94791BA-5B99-4904-B801-F929BC690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81154-434A-4148-82B0-8446A0922BBD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A857E2A-54C6-0527-12E9-CB33F3DD5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8321C04-40DB-599D-927A-125A18048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DF061-0F94-488B-B34A-6118842F8D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5290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F9FC1D-8A14-16A8-D1EE-4F6A08727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4F7B379-B95A-01E4-F967-43CC5BCFE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81154-434A-4148-82B0-8446A0922BBD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A064785-A517-0C4B-EC3A-66BA55E3F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5094E6B-F96E-491A-6CD4-8ECB6D1A7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DF061-0F94-488B-B34A-6118842F8D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9927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84A8BF4-A7B0-D070-E2DF-40F05BCF0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81154-434A-4148-82B0-8446A0922BBD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9F2CF8B-7B84-4BE6-A00C-A09C77B9B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A515B1-EBA3-1AEA-FFE0-66DD35C23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DF061-0F94-488B-B34A-6118842F8D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632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5C8E6C-4444-FB3F-155A-48732BDE0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22A7B2-7DAD-5F06-A90E-CE3B13FBC1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36572D6-9609-F58E-C794-70F3C00B54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A4B8EF7-7768-3FE0-2FCF-38C00030F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81154-434A-4148-82B0-8446A0922BBD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64F428-D0C2-AE6B-8F4C-14BE03454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0145B48-87AD-26D2-81F5-4A3096711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DF061-0F94-488B-B34A-6118842F8D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6935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6044D1-5543-CD97-BCEF-B22AB8990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12B728A-77C8-E1AE-9D01-CD9FF50DA6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D73A776-1905-623A-BBF8-92C6AF463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FC4089F-F87B-49CF-A870-EE897BDD2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81154-434A-4148-82B0-8446A0922BBD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A1BF424-54F3-FF38-BF1D-B153A7B4A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CA56E78-E26B-C546-4B71-7451D4701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DF061-0F94-488B-B34A-6118842F8D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5843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2905DD-677C-8BE0-CEFF-077DEBD23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DD9E157-29C2-0229-D7CF-AFFC336AC8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3AECCB-3BB4-8EB5-28A0-1CB8C4C4E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81154-434A-4148-82B0-8446A0922BBD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70B487-25DE-7DDD-ACAF-E9BA8F1E3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5660F4-8346-1A38-0F69-376DEC0CD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DF061-0F94-488B-B34A-6118842F8D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2772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38E38E1-36CE-3ED3-BB38-57DFDBDF38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D9FE962-6F26-C237-A828-B93AF5F60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20BB40-1FA0-23B9-9DDA-C53BCDCFA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81154-434A-4148-82B0-8446A0922BBD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32C98-604A-EFC0-052F-9A51A4261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54BB7E-0418-C189-BBC3-E82FE65CF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DF061-0F94-488B-B34A-6118842F8D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9525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CE7A377-7F04-4678-C5A3-CD8604410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AC84F57-BD0E-D979-5949-124D7C18B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CAD6E6-2FA4-53A7-5A35-99798279B5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481154-434A-4148-82B0-8446A0922BBD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17DD6D-6E08-52E1-D15D-BCE597486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F2B467-8B2C-711B-BD88-4A11AD80E4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7DF061-0F94-488B-B34A-6118842F8D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9763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图片 161">
            <a:extLst>
              <a:ext uri="{FF2B5EF4-FFF2-40B4-BE49-F238E27FC236}">
                <a16:creationId xmlns:a16="http://schemas.microsoft.com/office/drawing/2014/main" id="{616AD535-A612-BC3A-C27E-830A17AFE1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760" y="1895045"/>
            <a:ext cx="5551626" cy="4729162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188743F8-D3B6-A222-7439-472D845ED925}"/>
              </a:ext>
            </a:extLst>
          </p:cNvPr>
          <p:cNvSpPr/>
          <p:nvPr/>
        </p:nvSpPr>
        <p:spPr>
          <a:xfrm>
            <a:off x="8693950" y="3514721"/>
            <a:ext cx="185738" cy="43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0619418-6D48-DE49-2354-128FFF64EE5B}"/>
              </a:ext>
            </a:extLst>
          </p:cNvPr>
          <p:cNvSpPr txBox="1"/>
          <p:nvPr/>
        </p:nvSpPr>
        <p:spPr>
          <a:xfrm>
            <a:off x="9164245" y="1381424"/>
            <a:ext cx="712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items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E835937-F79F-C83A-B44A-ACD6A6529B2A}"/>
              </a:ext>
            </a:extLst>
          </p:cNvPr>
          <p:cNvSpPr/>
          <p:nvPr/>
        </p:nvSpPr>
        <p:spPr>
          <a:xfrm>
            <a:off x="8998750" y="3519484"/>
            <a:ext cx="185738" cy="43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991F15D-0AD5-A351-9BB7-A55F61E095D4}"/>
              </a:ext>
            </a:extLst>
          </p:cNvPr>
          <p:cNvSpPr/>
          <p:nvPr/>
        </p:nvSpPr>
        <p:spPr>
          <a:xfrm>
            <a:off x="9303550" y="3514721"/>
            <a:ext cx="185738" cy="43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3BE3473-931D-67F5-7229-C350D60F5ACB}"/>
              </a:ext>
            </a:extLst>
          </p:cNvPr>
          <p:cNvSpPr/>
          <p:nvPr/>
        </p:nvSpPr>
        <p:spPr>
          <a:xfrm>
            <a:off x="9608350" y="3514721"/>
            <a:ext cx="185738" cy="43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A4DBB9F-4981-07CA-8BAB-EE72C6412253}"/>
              </a:ext>
            </a:extLst>
          </p:cNvPr>
          <p:cNvSpPr/>
          <p:nvPr/>
        </p:nvSpPr>
        <p:spPr>
          <a:xfrm>
            <a:off x="10204257" y="3514721"/>
            <a:ext cx="185738" cy="43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19BD437-5920-B957-8075-5064252E56F5}"/>
              </a:ext>
            </a:extLst>
          </p:cNvPr>
          <p:cNvSpPr/>
          <p:nvPr/>
        </p:nvSpPr>
        <p:spPr>
          <a:xfrm>
            <a:off x="10497745" y="3514721"/>
            <a:ext cx="185738" cy="43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0CADEB5-234B-BD52-C1C3-7CA501C6E92F}"/>
              </a:ext>
            </a:extLst>
          </p:cNvPr>
          <p:cNvSpPr/>
          <p:nvPr/>
        </p:nvSpPr>
        <p:spPr>
          <a:xfrm>
            <a:off x="10800164" y="3514721"/>
            <a:ext cx="185738" cy="43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等腰三角形 14">
            <a:extLst>
              <a:ext uri="{FF2B5EF4-FFF2-40B4-BE49-F238E27FC236}">
                <a16:creationId xmlns:a16="http://schemas.microsoft.com/office/drawing/2014/main" id="{467A5BA1-F624-4F8C-D455-1994607612E9}"/>
              </a:ext>
            </a:extLst>
          </p:cNvPr>
          <p:cNvSpPr/>
          <p:nvPr/>
        </p:nvSpPr>
        <p:spPr>
          <a:xfrm>
            <a:off x="8693950" y="3027707"/>
            <a:ext cx="1100138" cy="392906"/>
          </a:xfrm>
          <a:prstGeom prst="triangl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9" name="卷形: 垂直 18">
            <a:extLst>
              <a:ext uri="{FF2B5EF4-FFF2-40B4-BE49-F238E27FC236}">
                <a16:creationId xmlns:a16="http://schemas.microsoft.com/office/drawing/2014/main" id="{3B0FC314-4EC7-2195-2655-679C708595A1}"/>
              </a:ext>
            </a:extLst>
          </p:cNvPr>
          <p:cNvSpPr/>
          <p:nvPr/>
        </p:nvSpPr>
        <p:spPr>
          <a:xfrm>
            <a:off x="9179428" y="2113792"/>
            <a:ext cx="683419" cy="478632"/>
          </a:xfrm>
          <a:prstGeom prst="verticalScroll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ml_s3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67573CB-71D5-EB88-D478-D77C04A4B401}"/>
              </a:ext>
            </a:extLst>
          </p:cNvPr>
          <p:cNvSpPr txBox="1"/>
          <p:nvPr/>
        </p:nvSpPr>
        <p:spPr>
          <a:xfrm>
            <a:off x="9039529" y="3126621"/>
            <a:ext cx="528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v1</a:t>
            </a:r>
            <a:endParaRPr lang="zh-CN" altLang="en-US" dirty="0"/>
          </a:p>
        </p:txBody>
      </p:sp>
      <p:sp>
        <p:nvSpPr>
          <p:cNvPr id="23" name="等腰三角形 22">
            <a:extLst>
              <a:ext uri="{FF2B5EF4-FFF2-40B4-BE49-F238E27FC236}">
                <a16:creationId xmlns:a16="http://schemas.microsoft.com/office/drawing/2014/main" id="{2AAE2538-0BC8-C719-7A35-F65CE66F2B9B}"/>
              </a:ext>
            </a:extLst>
          </p:cNvPr>
          <p:cNvSpPr/>
          <p:nvPr/>
        </p:nvSpPr>
        <p:spPr>
          <a:xfrm>
            <a:off x="10182827" y="3029877"/>
            <a:ext cx="803075" cy="392906"/>
          </a:xfrm>
          <a:prstGeom prst="triangl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0D6E5E6-BE51-D09B-4276-E3188E5E41EC}"/>
              </a:ext>
            </a:extLst>
          </p:cNvPr>
          <p:cNvSpPr txBox="1"/>
          <p:nvPr/>
        </p:nvSpPr>
        <p:spPr>
          <a:xfrm>
            <a:off x="10387612" y="3118309"/>
            <a:ext cx="528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v2</a:t>
            </a:r>
            <a:endParaRPr lang="zh-CN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7760332-0C2F-A273-B4FF-1A523C0F53D7}"/>
              </a:ext>
            </a:extLst>
          </p:cNvPr>
          <p:cNvSpPr/>
          <p:nvPr/>
        </p:nvSpPr>
        <p:spPr>
          <a:xfrm>
            <a:off x="8693950" y="4901334"/>
            <a:ext cx="185738" cy="43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A9C19C9-86A3-3E36-DEA5-4F0980A76E4D}"/>
              </a:ext>
            </a:extLst>
          </p:cNvPr>
          <p:cNvSpPr/>
          <p:nvPr/>
        </p:nvSpPr>
        <p:spPr>
          <a:xfrm>
            <a:off x="8998750" y="4906097"/>
            <a:ext cx="185738" cy="43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427BAC8-245B-3390-E689-88241F2632CE}"/>
              </a:ext>
            </a:extLst>
          </p:cNvPr>
          <p:cNvSpPr/>
          <p:nvPr/>
        </p:nvSpPr>
        <p:spPr>
          <a:xfrm>
            <a:off x="9303550" y="4901334"/>
            <a:ext cx="185738" cy="43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AD3198A-067F-4FA0-B613-05D36F8A8094}"/>
              </a:ext>
            </a:extLst>
          </p:cNvPr>
          <p:cNvSpPr/>
          <p:nvPr/>
        </p:nvSpPr>
        <p:spPr>
          <a:xfrm>
            <a:off x="9608350" y="4901334"/>
            <a:ext cx="185738" cy="43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9EDFDFF-CE56-A163-F190-E7B5C4B72690}"/>
              </a:ext>
            </a:extLst>
          </p:cNvPr>
          <p:cNvSpPr/>
          <p:nvPr/>
        </p:nvSpPr>
        <p:spPr>
          <a:xfrm>
            <a:off x="10204257" y="4901334"/>
            <a:ext cx="185738" cy="43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9ECEC7B-470F-4D6F-41E9-F9CF8CFD219D}"/>
              </a:ext>
            </a:extLst>
          </p:cNvPr>
          <p:cNvSpPr/>
          <p:nvPr/>
        </p:nvSpPr>
        <p:spPr>
          <a:xfrm>
            <a:off x="10497745" y="4901334"/>
            <a:ext cx="185738" cy="43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357E5CD-D92D-9803-3E2A-C9B05C434EDC}"/>
              </a:ext>
            </a:extLst>
          </p:cNvPr>
          <p:cNvSpPr/>
          <p:nvPr/>
        </p:nvSpPr>
        <p:spPr>
          <a:xfrm>
            <a:off x="10800164" y="4901334"/>
            <a:ext cx="185738" cy="43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" name="等腰三角形 35">
            <a:extLst>
              <a:ext uri="{FF2B5EF4-FFF2-40B4-BE49-F238E27FC236}">
                <a16:creationId xmlns:a16="http://schemas.microsoft.com/office/drawing/2014/main" id="{4D3D1377-3584-2C81-4637-973AD3364E6C}"/>
              </a:ext>
            </a:extLst>
          </p:cNvPr>
          <p:cNvSpPr/>
          <p:nvPr/>
        </p:nvSpPr>
        <p:spPr>
          <a:xfrm>
            <a:off x="8693950" y="4414320"/>
            <a:ext cx="1100138" cy="392906"/>
          </a:xfrm>
          <a:prstGeom prst="triangl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E2CA80D-D7F5-4AEC-024E-5C9CCAF1B2A8}"/>
              </a:ext>
            </a:extLst>
          </p:cNvPr>
          <p:cNvSpPr txBox="1"/>
          <p:nvPr/>
        </p:nvSpPr>
        <p:spPr>
          <a:xfrm>
            <a:off x="9039529" y="4513234"/>
            <a:ext cx="528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v1</a:t>
            </a:r>
            <a:endParaRPr lang="zh-CN" altLang="en-US" dirty="0"/>
          </a:p>
        </p:txBody>
      </p:sp>
      <p:sp>
        <p:nvSpPr>
          <p:cNvPr id="38" name="等腰三角形 37">
            <a:extLst>
              <a:ext uri="{FF2B5EF4-FFF2-40B4-BE49-F238E27FC236}">
                <a16:creationId xmlns:a16="http://schemas.microsoft.com/office/drawing/2014/main" id="{227115A5-E102-ABE8-97FA-27FB1CCC7C75}"/>
              </a:ext>
            </a:extLst>
          </p:cNvPr>
          <p:cNvSpPr/>
          <p:nvPr/>
        </p:nvSpPr>
        <p:spPr>
          <a:xfrm>
            <a:off x="10182827" y="4416490"/>
            <a:ext cx="803075" cy="392906"/>
          </a:xfrm>
          <a:prstGeom prst="triangl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3C62F744-9026-8BD8-B93E-B899C3D62A00}"/>
              </a:ext>
            </a:extLst>
          </p:cNvPr>
          <p:cNvSpPr txBox="1"/>
          <p:nvPr/>
        </p:nvSpPr>
        <p:spPr>
          <a:xfrm>
            <a:off x="10387612" y="4504922"/>
            <a:ext cx="528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v2</a:t>
            </a:r>
            <a:endParaRPr lang="zh-CN" altLang="en-US" dirty="0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C6826E16-FE13-B2A3-C7E3-9B8C4274E16F}"/>
              </a:ext>
            </a:extLst>
          </p:cNvPr>
          <p:cNvSpPr/>
          <p:nvPr/>
        </p:nvSpPr>
        <p:spPr>
          <a:xfrm>
            <a:off x="8693950" y="6292195"/>
            <a:ext cx="185738" cy="43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3CDBDDBF-EFB3-F176-D8E9-7E453046981D}"/>
              </a:ext>
            </a:extLst>
          </p:cNvPr>
          <p:cNvSpPr/>
          <p:nvPr/>
        </p:nvSpPr>
        <p:spPr>
          <a:xfrm>
            <a:off x="8998750" y="6296958"/>
            <a:ext cx="185738" cy="43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0B5B3BC-38FF-8DEB-505B-B5A518F099C4}"/>
              </a:ext>
            </a:extLst>
          </p:cNvPr>
          <p:cNvSpPr/>
          <p:nvPr/>
        </p:nvSpPr>
        <p:spPr>
          <a:xfrm>
            <a:off x="9303550" y="6292195"/>
            <a:ext cx="185738" cy="43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8BB960C8-81EA-5775-D094-72FAE4582386}"/>
              </a:ext>
            </a:extLst>
          </p:cNvPr>
          <p:cNvSpPr/>
          <p:nvPr/>
        </p:nvSpPr>
        <p:spPr>
          <a:xfrm>
            <a:off x="9608350" y="6292195"/>
            <a:ext cx="185738" cy="43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FCF20614-EC10-849A-70B5-1F3F48A60360}"/>
              </a:ext>
            </a:extLst>
          </p:cNvPr>
          <p:cNvSpPr/>
          <p:nvPr/>
        </p:nvSpPr>
        <p:spPr>
          <a:xfrm>
            <a:off x="11487156" y="6292195"/>
            <a:ext cx="185738" cy="43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AECA52CC-BA92-949D-E04D-3487DECF2799}"/>
              </a:ext>
            </a:extLst>
          </p:cNvPr>
          <p:cNvSpPr/>
          <p:nvPr/>
        </p:nvSpPr>
        <p:spPr>
          <a:xfrm>
            <a:off x="11765761" y="6292195"/>
            <a:ext cx="185738" cy="43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1" name="等腰三角形 50">
            <a:extLst>
              <a:ext uri="{FF2B5EF4-FFF2-40B4-BE49-F238E27FC236}">
                <a16:creationId xmlns:a16="http://schemas.microsoft.com/office/drawing/2014/main" id="{BE28F421-83C9-78AF-219B-0CD300F2FA89}"/>
              </a:ext>
            </a:extLst>
          </p:cNvPr>
          <p:cNvSpPr/>
          <p:nvPr/>
        </p:nvSpPr>
        <p:spPr>
          <a:xfrm>
            <a:off x="8693950" y="5805181"/>
            <a:ext cx="1100138" cy="392906"/>
          </a:xfrm>
          <a:prstGeom prst="triangl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3E0926B5-8978-BB25-0992-7B632CC7FF87}"/>
              </a:ext>
            </a:extLst>
          </p:cNvPr>
          <p:cNvSpPr txBox="1"/>
          <p:nvPr/>
        </p:nvSpPr>
        <p:spPr>
          <a:xfrm>
            <a:off x="9039529" y="5904095"/>
            <a:ext cx="528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v1</a:t>
            </a:r>
            <a:endParaRPr lang="zh-CN" altLang="en-US" dirty="0"/>
          </a:p>
        </p:txBody>
      </p:sp>
      <p:sp>
        <p:nvSpPr>
          <p:cNvPr id="55" name="等腰三角形 54">
            <a:extLst>
              <a:ext uri="{FF2B5EF4-FFF2-40B4-BE49-F238E27FC236}">
                <a16:creationId xmlns:a16="http://schemas.microsoft.com/office/drawing/2014/main" id="{0E5CBADA-BB85-7A7A-F616-66CE1D3B32A6}"/>
              </a:ext>
            </a:extLst>
          </p:cNvPr>
          <p:cNvSpPr/>
          <p:nvPr/>
        </p:nvSpPr>
        <p:spPr>
          <a:xfrm>
            <a:off x="11487156" y="5805181"/>
            <a:ext cx="464343" cy="392906"/>
          </a:xfrm>
          <a:prstGeom prst="triangle">
            <a:avLst/>
          </a:prstGeom>
          <a:solidFill>
            <a:schemeClr val="accent2"/>
          </a:solidFill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6006787C-22D3-872D-4520-842C418281A2}"/>
              </a:ext>
            </a:extLst>
          </p:cNvPr>
          <p:cNvSpPr txBox="1"/>
          <p:nvPr/>
        </p:nvSpPr>
        <p:spPr>
          <a:xfrm>
            <a:off x="11522875" y="5904095"/>
            <a:ext cx="528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v3</a:t>
            </a:r>
            <a:endParaRPr lang="zh-CN" altLang="en-US" dirty="0"/>
          </a:p>
        </p:txBody>
      </p:sp>
      <p:sp>
        <p:nvSpPr>
          <p:cNvPr id="61" name="卷形: 垂直 60">
            <a:extLst>
              <a:ext uri="{FF2B5EF4-FFF2-40B4-BE49-F238E27FC236}">
                <a16:creationId xmlns:a16="http://schemas.microsoft.com/office/drawing/2014/main" id="{E2824688-291A-82F0-5A72-8AE19A402420}"/>
              </a:ext>
            </a:extLst>
          </p:cNvPr>
          <p:cNvSpPr/>
          <p:nvPr/>
        </p:nvSpPr>
        <p:spPr>
          <a:xfrm>
            <a:off x="7796964" y="2878993"/>
            <a:ext cx="716455" cy="478632"/>
          </a:xfrm>
          <a:prstGeom prst="verticalScroll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mf_p1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62" name="卷形: 垂直 61">
            <a:extLst>
              <a:ext uri="{FF2B5EF4-FFF2-40B4-BE49-F238E27FC236}">
                <a16:creationId xmlns:a16="http://schemas.microsoft.com/office/drawing/2014/main" id="{E1FC8733-741F-2DE9-389D-98186D249460}"/>
              </a:ext>
            </a:extLst>
          </p:cNvPr>
          <p:cNvSpPr/>
          <p:nvPr/>
        </p:nvSpPr>
        <p:spPr>
          <a:xfrm>
            <a:off x="7796964" y="4328594"/>
            <a:ext cx="716455" cy="478632"/>
          </a:xfrm>
          <a:prstGeom prst="verticalScroll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mf_p2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63" name="卷形: 垂直 62">
            <a:extLst>
              <a:ext uri="{FF2B5EF4-FFF2-40B4-BE49-F238E27FC236}">
                <a16:creationId xmlns:a16="http://schemas.microsoft.com/office/drawing/2014/main" id="{EB4A70C9-DC72-7558-5B0A-2C39A46B20E8}"/>
              </a:ext>
            </a:extLst>
          </p:cNvPr>
          <p:cNvSpPr/>
          <p:nvPr/>
        </p:nvSpPr>
        <p:spPr>
          <a:xfrm>
            <a:off x="7796964" y="5794795"/>
            <a:ext cx="716455" cy="478632"/>
          </a:xfrm>
          <a:prstGeom prst="verticalScroll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mf_p3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65" name="连接符: 肘形 64">
            <a:extLst>
              <a:ext uri="{FF2B5EF4-FFF2-40B4-BE49-F238E27FC236}">
                <a16:creationId xmlns:a16="http://schemas.microsoft.com/office/drawing/2014/main" id="{0763CBA0-BA82-798A-B5F8-64B91E2FE664}"/>
              </a:ext>
            </a:extLst>
          </p:cNvPr>
          <p:cNvCxnSpPr>
            <a:cxnSpLocks/>
            <a:stCxn id="19" idx="1"/>
            <a:endCxn id="61" idx="1"/>
          </p:cNvCxnSpPr>
          <p:nvPr/>
        </p:nvCxnSpPr>
        <p:spPr>
          <a:xfrm flipH="1">
            <a:off x="7856793" y="2353108"/>
            <a:ext cx="1382464" cy="765201"/>
          </a:xfrm>
          <a:prstGeom prst="bentConnector3">
            <a:avLst>
              <a:gd name="adj1" fmla="val 109915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连接符: 肘形 66">
            <a:extLst>
              <a:ext uri="{FF2B5EF4-FFF2-40B4-BE49-F238E27FC236}">
                <a16:creationId xmlns:a16="http://schemas.microsoft.com/office/drawing/2014/main" id="{23E87847-8DC8-C7A7-055A-C9BBD3E84EB5}"/>
              </a:ext>
            </a:extLst>
          </p:cNvPr>
          <p:cNvCxnSpPr>
            <a:cxnSpLocks/>
            <a:stCxn id="19" idx="1"/>
            <a:endCxn id="62" idx="1"/>
          </p:cNvCxnSpPr>
          <p:nvPr/>
        </p:nvCxnSpPr>
        <p:spPr>
          <a:xfrm flipH="1">
            <a:off x="7856793" y="2353108"/>
            <a:ext cx="1382464" cy="2214802"/>
          </a:xfrm>
          <a:prstGeom prst="bentConnector3">
            <a:avLst>
              <a:gd name="adj1" fmla="val 11714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连接符: 肘形 72">
            <a:extLst>
              <a:ext uri="{FF2B5EF4-FFF2-40B4-BE49-F238E27FC236}">
                <a16:creationId xmlns:a16="http://schemas.microsoft.com/office/drawing/2014/main" id="{7B974AA6-0163-58A7-E09E-D9EF22226713}"/>
              </a:ext>
            </a:extLst>
          </p:cNvPr>
          <p:cNvCxnSpPr>
            <a:cxnSpLocks/>
            <a:stCxn id="19" idx="1"/>
            <a:endCxn id="63" idx="1"/>
          </p:cNvCxnSpPr>
          <p:nvPr/>
        </p:nvCxnSpPr>
        <p:spPr>
          <a:xfrm flipH="1">
            <a:off x="7856793" y="2353108"/>
            <a:ext cx="1382464" cy="3681003"/>
          </a:xfrm>
          <a:prstGeom prst="bentConnector3">
            <a:avLst>
              <a:gd name="adj1" fmla="val 12386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连接符: 肘形 84">
            <a:extLst>
              <a:ext uri="{FF2B5EF4-FFF2-40B4-BE49-F238E27FC236}">
                <a16:creationId xmlns:a16="http://schemas.microsoft.com/office/drawing/2014/main" id="{0E7D5179-01E2-FB17-9AC0-F6F3E7FC171D}"/>
              </a:ext>
            </a:extLst>
          </p:cNvPr>
          <p:cNvCxnSpPr>
            <a:cxnSpLocks/>
            <a:stCxn id="61" idx="3"/>
            <a:endCxn id="15" idx="0"/>
          </p:cNvCxnSpPr>
          <p:nvPr/>
        </p:nvCxnSpPr>
        <p:spPr>
          <a:xfrm rot="10800000" flipH="1">
            <a:off x="8453589" y="3027707"/>
            <a:ext cx="790429" cy="90602"/>
          </a:xfrm>
          <a:prstGeom prst="bentConnector4">
            <a:avLst>
              <a:gd name="adj1" fmla="val 57014"/>
              <a:gd name="adj2" fmla="val 28779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连接符: 肘形 92">
            <a:extLst>
              <a:ext uri="{FF2B5EF4-FFF2-40B4-BE49-F238E27FC236}">
                <a16:creationId xmlns:a16="http://schemas.microsoft.com/office/drawing/2014/main" id="{3045B69B-8833-380C-B831-29A4F18E1B35}"/>
              </a:ext>
            </a:extLst>
          </p:cNvPr>
          <p:cNvCxnSpPr>
            <a:cxnSpLocks/>
            <a:stCxn id="61" idx="3"/>
            <a:endCxn id="23" idx="0"/>
          </p:cNvCxnSpPr>
          <p:nvPr/>
        </p:nvCxnSpPr>
        <p:spPr>
          <a:xfrm rot="10800000" flipH="1">
            <a:off x="8453589" y="3029877"/>
            <a:ext cx="2130775" cy="88432"/>
          </a:xfrm>
          <a:prstGeom prst="bentConnector4">
            <a:avLst>
              <a:gd name="adj1" fmla="val 13774"/>
              <a:gd name="adj2" fmla="val 35140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连接符: 肘形 98">
            <a:extLst>
              <a:ext uri="{FF2B5EF4-FFF2-40B4-BE49-F238E27FC236}">
                <a16:creationId xmlns:a16="http://schemas.microsoft.com/office/drawing/2014/main" id="{D2F36573-7F57-7DD6-BDC9-C346AC5848F3}"/>
              </a:ext>
            </a:extLst>
          </p:cNvPr>
          <p:cNvCxnSpPr>
            <a:cxnSpLocks/>
            <a:stCxn id="62" idx="3"/>
            <a:endCxn id="36" idx="0"/>
          </p:cNvCxnSpPr>
          <p:nvPr/>
        </p:nvCxnSpPr>
        <p:spPr>
          <a:xfrm rot="10800000" flipH="1">
            <a:off x="8453589" y="4414320"/>
            <a:ext cx="790429" cy="153590"/>
          </a:xfrm>
          <a:prstGeom prst="bentConnector4">
            <a:avLst>
              <a:gd name="adj1" fmla="val 59725"/>
              <a:gd name="adj2" fmla="val 19767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连接符: 肘形 107">
            <a:extLst>
              <a:ext uri="{FF2B5EF4-FFF2-40B4-BE49-F238E27FC236}">
                <a16:creationId xmlns:a16="http://schemas.microsoft.com/office/drawing/2014/main" id="{8CC6C7C1-BB92-6CF4-064E-1EF537BB755F}"/>
              </a:ext>
            </a:extLst>
          </p:cNvPr>
          <p:cNvCxnSpPr>
            <a:cxnSpLocks/>
            <a:stCxn id="62" idx="3"/>
            <a:endCxn id="38" idx="0"/>
          </p:cNvCxnSpPr>
          <p:nvPr/>
        </p:nvCxnSpPr>
        <p:spPr>
          <a:xfrm rot="10800000" flipH="1">
            <a:off x="8453589" y="4416490"/>
            <a:ext cx="2130775" cy="151420"/>
          </a:xfrm>
          <a:prstGeom prst="bentConnector4">
            <a:avLst>
              <a:gd name="adj1" fmla="val 13103"/>
              <a:gd name="adj2" fmla="val 26184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连接符: 肘形 112">
            <a:extLst>
              <a:ext uri="{FF2B5EF4-FFF2-40B4-BE49-F238E27FC236}">
                <a16:creationId xmlns:a16="http://schemas.microsoft.com/office/drawing/2014/main" id="{6567EF81-E25E-1C06-8CEA-A47DAB26823A}"/>
              </a:ext>
            </a:extLst>
          </p:cNvPr>
          <p:cNvCxnSpPr>
            <a:cxnSpLocks/>
            <a:stCxn id="63" idx="3"/>
            <a:endCxn id="51" idx="0"/>
          </p:cNvCxnSpPr>
          <p:nvPr/>
        </p:nvCxnSpPr>
        <p:spPr>
          <a:xfrm rot="10800000" flipH="1">
            <a:off x="8453589" y="5805181"/>
            <a:ext cx="790429" cy="228930"/>
          </a:xfrm>
          <a:prstGeom prst="bentConnector4">
            <a:avLst>
              <a:gd name="adj1" fmla="val 51591"/>
              <a:gd name="adj2" fmla="val 17942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连接符: 肘形 118">
            <a:extLst>
              <a:ext uri="{FF2B5EF4-FFF2-40B4-BE49-F238E27FC236}">
                <a16:creationId xmlns:a16="http://schemas.microsoft.com/office/drawing/2014/main" id="{6D19650F-B7A7-36BD-37EA-71A0F2CB18DB}"/>
              </a:ext>
            </a:extLst>
          </p:cNvPr>
          <p:cNvCxnSpPr>
            <a:cxnSpLocks/>
            <a:stCxn id="63" idx="3"/>
            <a:endCxn id="55" idx="0"/>
          </p:cNvCxnSpPr>
          <p:nvPr/>
        </p:nvCxnSpPr>
        <p:spPr>
          <a:xfrm rot="10800000" flipH="1">
            <a:off x="8453590" y="5805181"/>
            <a:ext cx="3265738" cy="228930"/>
          </a:xfrm>
          <a:prstGeom prst="bentConnector4">
            <a:avLst>
              <a:gd name="adj1" fmla="val 8550"/>
              <a:gd name="adj2" fmla="val 204393"/>
            </a:avLst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卷形: 垂直 130">
            <a:extLst>
              <a:ext uri="{FF2B5EF4-FFF2-40B4-BE49-F238E27FC236}">
                <a16:creationId xmlns:a16="http://schemas.microsoft.com/office/drawing/2014/main" id="{290E5550-325F-A4B7-7461-8F21F0B749BF}"/>
              </a:ext>
            </a:extLst>
          </p:cNvPr>
          <p:cNvSpPr/>
          <p:nvPr/>
        </p:nvSpPr>
        <p:spPr>
          <a:xfrm>
            <a:off x="8315925" y="2118357"/>
            <a:ext cx="683419" cy="478632"/>
          </a:xfrm>
          <a:prstGeom prst="verticalScroll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ml_s2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149" name="直接箭头连接符 148">
            <a:extLst>
              <a:ext uri="{FF2B5EF4-FFF2-40B4-BE49-F238E27FC236}">
                <a16:creationId xmlns:a16="http://schemas.microsoft.com/office/drawing/2014/main" id="{882F99D1-52B6-636C-E02E-331D79AFB770}"/>
              </a:ext>
            </a:extLst>
          </p:cNvPr>
          <p:cNvCxnSpPr>
            <a:stCxn id="5" idx="2"/>
            <a:endCxn id="19" idx="0"/>
          </p:cNvCxnSpPr>
          <p:nvPr/>
        </p:nvCxnSpPr>
        <p:spPr>
          <a:xfrm>
            <a:off x="9520691" y="1750756"/>
            <a:ext cx="447" cy="3630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文本框 151">
            <a:extLst>
              <a:ext uri="{FF2B5EF4-FFF2-40B4-BE49-F238E27FC236}">
                <a16:creationId xmlns:a16="http://schemas.microsoft.com/office/drawing/2014/main" id="{D1BCC9A9-E426-0944-4098-C15CBE42AE8C}"/>
              </a:ext>
            </a:extLst>
          </p:cNvPr>
          <p:cNvSpPr txBox="1"/>
          <p:nvPr/>
        </p:nvSpPr>
        <p:spPr>
          <a:xfrm>
            <a:off x="9567571" y="1741157"/>
            <a:ext cx="1564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@snapshot 3</a:t>
            </a:r>
            <a:endParaRPr lang="zh-CN" altLang="en-US" sz="1400" dirty="0"/>
          </a:p>
        </p:txBody>
      </p:sp>
      <p:sp>
        <p:nvSpPr>
          <p:cNvPr id="156" name="标题 1">
            <a:extLst>
              <a:ext uri="{FF2B5EF4-FFF2-40B4-BE49-F238E27FC236}">
                <a16:creationId xmlns:a16="http://schemas.microsoft.com/office/drawing/2014/main" id="{A2035B6B-9884-D092-8ABA-BD99F40D7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物理目录 </a:t>
            </a:r>
            <a:r>
              <a:rPr lang="en-US" altLang="zh-CN" dirty="0"/>
              <a:t>&amp; </a:t>
            </a:r>
            <a:r>
              <a:rPr lang="zh-CN" altLang="en-US" dirty="0"/>
              <a:t>逻辑组织</a:t>
            </a:r>
          </a:p>
        </p:txBody>
      </p:sp>
      <p:pic>
        <p:nvPicPr>
          <p:cNvPr id="160" name="图片 159">
            <a:extLst>
              <a:ext uri="{FF2B5EF4-FFF2-40B4-BE49-F238E27FC236}">
                <a16:creationId xmlns:a16="http://schemas.microsoft.com/office/drawing/2014/main" id="{AC2CE1F5-C171-536C-B4B5-B33BC889A8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3056" y="1629812"/>
            <a:ext cx="2263494" cy="1799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471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F5789D-279C-C816-95CF-4DECC2F9B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索引查询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1533154E-9802-5023-F0ED-7BF33D9998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7514" y="1027906"/>
            <a:ext cx="9064486" cy="563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732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A3A09A-CF3D-0CF3-C927-48B0285C3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索引构建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4291712-C701-5D90-B9DB-8F6794DEEB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61064"/>
            <a:ext cx="10515600" cy="3680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364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48C0FE-241E-7FCF-1A37-31C53AD25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湖表索引设计原则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01FC71-862B-6E99-3E2A-C8E4137DD9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构建粒度：以</a:t>
            </a:r>
            <a:r>
              <a:rPr lang="en-US" altLang="zh-CN" dirty="0"/>
              <a:t>iceberg</a:t>
            </a:r>
            <a:r>
              <a:rPr lang="zh-CN" altLang="en-US" dirty="0"/>
              <a:t>的</a:t>
            </a:r>
            <a:r>
              <a:rPr lang="en-US" altLang="zh-CN" dirty="0"/>
              <a:t>directory</a:t>
            </a:r>
            <a:r>
              <a:rPr lang="zh-CN" altLang="en-US" dirty="0"/>
              <a:t>为粒度构建索引，例如</a:t>
            </a:r>
            <a:r>
              <a:rPr lang="en-US" altLang="zh-CN" dirty="0"/>
              <a:t>partition</a:t>
            </a:r>
            <a:r>
              <a:rPr lang="zh-CN" altLang="en-US" dirty="0"/>
              <a:t>、</a:t>
            </a:r>
            <a:r>
              <a:rPr lang="en-US" altLang="zh-CN" dirty="0"/>
              <a:t>bucket</a:t>
            </a:r>
          </a:p>
          <a:p>
            <a:r>
              <a:rPr lang="zh-CN" altLang="en-US" dirty="0"/>
              <a:t>更新策略：依照版本增量数据，同步更新索引。</a:t>
            </a:r>
            <a:endParaRPr lang="en-US" altLang="zh-CN" dirty="0"/>
          </a:p>
          <a:p>
            <a:r>
              <a:rPr lang="zh-CN" altLang="en-US" dirty="0"/>
              <a:t>元信息：</a:t>
            </a:r>
            <a:r>
              <a:rPr lang="en-US" altLang="zh-CN" dirty="0"/>
              <a:t>catalog</a:t>
            </a:r>
            <a:r>
              <a:rPr lang="zh-CN" altLang="en-US" dirty="0"/>
              <a:t>按照快照，记录索引元信息</a:t>
            </a:r>
            <a:r>
              <a:rPr lang="en-US" altLang="zh-CN" dirty="0"/>
              <a:t>manifest list</a:t>
            </a:r>
          </a:p>
          <a:p>
            <a:r>
              <a:rPr lang="zh-CN" altLang="en-US" dirty="0"/>
              <a:t>索引查询：</a:t>
            </a:r>
            <a:endParaRPr lang="en-US" altLang="zh-CN" dirty="0"/>
          </a:p>
          <a:p>
            <a:pPr lvl="1"/>
            <a:r>
              <a:rPr lang="zh-CN" altLang="en-US" dirty="0"/>
              <a:t>读清单 </a:t>
            </a:r>
            <a:r>
              <a:rPr lang="en-US" altLang="zh-CN" dirty="0"/>
              <a:t>-&gt; </a:t>
            </a:r>
            <a:r>
              <a:rPr lang="zh-CN" altLang="en-US" dirty="0"/>
              <a:t>快照有效段 </a:t>
            </a:r>
            <a:r>
              <a:rPr lang="en-US" altLang="zh-CN" dirty="0"/>
              <a:t>-&gt; </a:t>
            </a:r>
            <a:r>
              <a:rPr lang="zh-CN" altLang="en-US" dirty="0"/>
              <a:t>裁剪 </a:t>
            </a:r>
            <a:r>
              <a:rPr lang="en-US" altLang="zh-CN" dirty="0"/>
              <a:t>-&gt; </a:t>
            </a:r>
            <a:r>
              <a:rPr lang="zh-CN" altLang="en-US" dirty="0"/>
              <a:t>逐段检索（可并行）</a:t>
            </a:r>
            <a:r>
              <a:rPr lang="en-US" altLang="zh-CN" dirty="0"/>
              <a:t>-&gt; </a:t>
            </a:r>
            <a:r>
              <a:rPr lang="zh-CN" altLang="en-US" dirty="0"/>
              <a:t>合并排序</a:t>
            </a:r>
            <a:endParaRPr lang="en-US" altLang="zh-CN" dirty="0"/>
          </a:p>
          <a:p>
            <a:r>
              <a:rPr lang="zh-CN" altLang="en-US" dirty="0"/>
              <a:t>主要接口</a:t>
            </a:r>
            <a:endParaRPr lang="en-US" altLang="zh-CN" dirty="0"/>
          </a:p>
          <a:p>
            <a:pPr lvl="1"/>
            <a:r>
              <a:rPr lang="zh-CN" altLang="en-US" dirty="0"/>
              <a:t>索引注册 </a:t>
            </a:r>
            <a:r>
              <a:rPr lang="en-US" altLang="zh-CN" dirty="0"/>
              <a:t>– catalog</a:t>
            </a:r>
          </a:p>
          <a:p>
            <a:pPr lvl="1"/>
            <a:r>
              <a:rPr lang="zh-CN" altLang="en-US" dirty="0"/>
              <a:t>索引构建 </a:t>
            </a:r>
            <a:r>
              <a:rPr lang="en-US" altLang="zh-CN" dirty="0"/>
              <a:t>– delta</a:t>
            </a:r>
          </a:p>
          <a:p>
            <a:pPr marL="457200" lvl="1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532545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364</TotalTime>
  <Words>112</Words>
  <Application>Microsoft Office PowerPoint</Application>
  <PresentationFormat>宽屏</PresentationFormat>
  <Paragraphs>27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物理目录 &amp; 逻辑组织</vt:lpstr>
      <vt:lpstr>索引查询</vt:lpstr>
      <vt:lpstr>索引构建</vt:lpstr>
      <vt:lpstr>湖表索引设计原则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Jiahao Zhang</dc:creator>
  <cp:lastModifiedBy>Jiahao Zhang</cp:lastModifiedBy>
  <cp:revision>3</cp:revision>
  <dcterms:created xsi:type="dcterms:W3CDTF">2026-06-03T07:48:17Z</dcterms:created>
  <dcterms:modified xsi:type="dcterms:W3CDTF">2026-06-05T01:13:52Z</dcterms:modified>
</cp:coreProperties>
</file>